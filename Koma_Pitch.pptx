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6fa3d7c8a84338" /><Relationship Type="http://schemas.openxmlformats.org/officeDocument/2006/relationships/extended-properties" Target="/docProps/app.xml" Id="R9b258ed1fce84c25" /><Relationship Type="http://schemas.openxmlformats.org/officeDocument/2006/relationships/officeDocument" Target="/ppt/presentation.xml" Id="Rb938504a3a3741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ae9ff04d8a4973"/>
  </p:sldMasterIdLst>
  <p:notesMasterIdLst>
    <p:notesMasterId xmlns:r="http://schemas.openxmlformats.org/officeDocument/2006/relationships" r:id="R1047373e496648f3"/>
  </p:notesMasterIdLst>
  <p:sldIdLst>
    <p:sldId xmlns:r="http://schemas.openxmlformats.org/officeDocument/2006/relationships" id="256" r:id="Rbe5dbead010d4cba"/>
    <p:sldId xmlns:r="http://schemas.openxmlformats.org/officeDocument/2006/relationships" id="257" r:id="R87207aa9627a4825"/>
    <p:sldId xmlns:r="http://schemas.openxmlformats.org/officeDocument/2006/relationships" id="258" r:id="Rf4bbea0f5c454021"/>
    <p:sldId xmlns:r="http://schemas.openxmlformats.org/officeDocument/2006/relationships" id="259" r:id="R2b1eda84091242fe"/>
    <p:sldId xmlns:r="http://schemas.openxmlformats.org/officeDocument/2006/relationships" id="260" r:id="R7da88aaf70b9432f"/>
    <p:sldId xmlns:r="http://schemas.openxmlformats.org/officeDocument/2006/relationships" id="261" r:id="R15e0f9e02fa44206"/>
    <p:sldId xmlns:r="http://schemas.openxmlformats.org/officeDocument/2006/relationships" id="262" r:id="R3134fcf8bbd14c70"/>
    <p:sldId xmlns:r="http://schemas.openxmlformats.org/officeDocument/2006/relationships" id="263" r:id="Rf30f1de9f8de4cac"/>
    <p:sldId xmlns:r="http://schemas.openxmlformats.org/officeDocument/2006/relationships" id="264" r:id="R45e59050f4b842b9"/>
    <p:sldId xmlns:r="http://schemas.openxmlformats.org/officeDocument/2006/relationships" id="265" r:id="Raa0d169d23b642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4d34dc35d64f99" /><Relationship Type="http://schemas.openxmlformats.org/officeDocument/2006/relationships/slideMaster" Target="/ppt/slideMasters/slideMaster1.xml" Id="R35ae9ff04d8a4973" /><Relationship Type="http://schemas.openxmlformats.org/officeDocument/2006/relationships/notesMaster" Target="/ppt/notesMasters/notesMaster1.xml" Id="R1047373e496648f3" /><Relationship Type="http://schemas.openxmlformats.org/officeDocument/2006/relationships/presProps" Target="/ppt/presProps.xml" Id="R0797594964b44d6c" /><Relationship Type="http://schemas.openxmlformats.org/officeDocument/2006/relationships/tableStyles" Target="/ppt/tableStyles.xml" Id="Rcbd626b6b0ed4253" /><Relationship Type="http://schemas.openxmlformats.org/officeDocument/2006/relationships/slide" Target="/ppt/slides/slide1.xml" Id="Rbe5dbead010d4cba" /><Relationship Type="http://schemas.openxmlformats.org/officeDocument/2006/relationships/slide" Target="/ppt/slides/slide2.xml" Id="R87207aa9627a4825" /><Relationship Type="http://schemas.openxmlformats.org/officeDocument/2006/relationships/slide" Target="/ppt/slides/slide3.xml" Id="Rf4bbea0f5c454021" /><Relationship Type="http://schemas.openxmlformats.org/officeDocument/2006/relationships/slide" Target="/ppt/slides/slide4.xml" Id="R2b1eda84091242fe" /><Relationship Type="http://schemas.openxmlformats.org/officeDocument/2006/relationships/slide" Target="/ppt/slides/slide5.xml" Id="R7da88aaf70b9432f" /><Relationship Type="http://schemas.openxmlformats.org/officeDocument/2006/relationships/slide" Target="/ppt/slides/slide6.xml" Id="R15e0f9e02fa44206" /><Relationship Type="http://schemas.openxmlformats.org/officeDocument/2006/relationships/slide" Target="/ppt/slides/slide7.xml" Id="R3134fcf8bbd14c70" /><Relationship Type="http://schemas.openxmlformats.org/officeDocument/2006/relationships/slide" Target="/ppt/slides/slide8.xml" Id="Rf30f1de9f8de4cac" /><Relationship Type="http://schemas.openxmlformats.org/officeDocument/2006/relationships/slide" Target="/ppt/slides/slide9.xml" Id="R45e59050f4b842b9" /><Relationship Type="http://schemas.openxmlformats.org/officeDocument/2006/relationships/slide" Target="/ppt/slides/slide10.xml" Id="Raa0d169d23b642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e47d3cf03547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0468965a374dc0" /><Relationship Type="http://schemas.openxmlformats.org/officeDocument/2006/relationships/notesMaster" Target="/ppt/notesMasters/notesMaster1.xml" Id="Rcca08fe58e2b4b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dec9c8f4fb4d4d" /><Relationship Type="http://schemas.openxmlformats.org/officeDocument/2006/relationships/notesMaster" Target="/ppt/notesMasters/notesMaster1.xml" Id="R3843af0bcdc94b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110eaff06f4aa7" /><Relationship Type="http://schemas.openxmlformats.org/officeDocument/2006/relationships/notesMaster" Target="/ppt/notesMasters/notesMaster1.xml" Id="R7a2ea1bfe89949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9c0a9b169a4552" /><Relationship Type="http://schemas.openxmlformats.org/officeDocument/2006/relationships/notesMaster" Target="/ppt/notesMasters/notesMaster1.xml" Id="R9c25813b2e9e4c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44682f0ff647aa" /><Relationship Type="http://schemas.openxmlformats.org/officeDocument/2006/relationships/notesMaster" Target="/ppt/notesMasters/notesMaster1.xml" Id="R948358059fa04a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059b243e474a46" /><Relationship Type="http://schemas.openxmlformats.org/officeDocument/2006/relationships/notesMaster" Target="/ppt/notesMasters/notesMaster1.xml" Id="R0bd972c2ef0445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eeeaae571f46b5" /><Relationship Type="http://schemas.openxmlformats.org/officeDocument/2006/relationships/notesMaster" Target="/ppt/notesMasters/notesMaster1.xml" Id="Rd11cd956e15245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49f83800364751" /><Relationship Type="http://schemas.openxmlformats.org/officeDocument/2006/relationships/notesMaster" Target="/ppt/notesMasters/notesMaster1.xml" Id="Rb98a73ef980243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63949b6f7f451b" /><Relationship Type="http://schemas.openxmlformats.org/officeDocument/2006/relationships/notesMaster" Target="/ppt/notesMasters/notesMaster1.xml" Id="R78868a8facf74a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a1d25352654fec" /><Relationship Type="http://schemas.openxmlformats.org/officeDocument/2006/relationships/notesMaster" Target="/ppt/notesMasters/notesMaster1.xml" Id="Re767f21a884f49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Notas do apresentador disponíveis para orientar a fala.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Arquivo fornecido pelo usuário: Koma_pitch.pdf (logomarca e identidade visual).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Notas do apresentador disponíveis para orientar a fala.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Notas do apresentador disponíveis para orientar a fala.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Abrasel (18/03/2026): https://abrasel.com.br/noticias/noticias/bares-e-restaurantes-faturaram-mais-em-2025-diz-pesquisa-de-servicos/</a:t>
            </a:r>
          </a:p>
          <a:p xmlns:a="http://schemas.openxmlformats.org/drawingml/2006/main">
            <a:r>
              <a:t>- Abrasel (03/12/2024): https://abrasel.com.br/noticias/noticias/estudo-inedito-restaurantes-economia-brasileira/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Notas do apresentador disponíveis para orientar a fala.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Notas do apresentador disponíveis para orientar a fala.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Arquivo fornecido pelo usuário: Koma_pitch.pdf (estágio e módulos do MVP).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Notas do apresentador disponíveis para orientar a fala.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Referência de amplitude de suites estabelecidas: https://saipos.com/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Notas do apresentador disponíveis para orientar a fala.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Notas do apresentador disponíveis para orientar a fala.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Notas do apresentador disponíveis para orientar a fala.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Informações de perfil fornecidas pelo usuário no contexto da conversa.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Notas do apresentador disponíveis para orientar a fala.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Arquivo fornecido pelo usuário: Koma_pitch.pdf (logomarca e identidade visual).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67688dac6e4f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068457e082481f" /><Relationship Type="http://schemas.openxmlformats.org/officeDocument/2006/relationships/slideLayout" Target="/ppt/slideLayouts/slideLayout1.xml" Id="Rd9463fefa44140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463fefa44140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7bccb3fb74d5e" /><Relationship Type="http://schemas.openxmlformats.org/officeDocument/2006/relationships/image" Target="/ppt/media/image.png" Id="R1815e11882e449cf" /><Relationship Type="http://schemas.openxmlformats.org/officeDocument/2006/relationships/notesSlide" Target="/ppt/notesSlides/notesSlide1.xml" Id="R3b134210572a40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ffc7860d44d84" /><Relationship Type="http://schemas.openxmlformats.org/officeDocument/2006/relationships/notesSlide" Target="/ppt/notesSlides/notesSlide2.xml" Id="R6aa0159140f840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f81391c854667" /><Relationship Type="http://schemas.openxmlformats.org/officeDocument/2006/relationships/notesSlide" Target="/ppt/notesSlides/notesSlide3.xml" Id="Re19780463c024f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1a13c8c234b22" /><Relationship Type="http://schemas.openxmlformats.org/officeDocument/2006/relationships/notesSlide" Target="/ppt/notesSlides/notesSlide4.xml" Id="R4a2da5511fba4c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3f51387b0438b" /><Relationship Type="http://schemas.openxmlformats.org/officeDocument/2006/relationships/notesSlide" Target="/ppt/notesSlides/notesSlide5.xml" Id="Rd05cd5a9dc7647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574b1f918497d" /><Relationship Type="http://schemas.openxmlformats.org/officeDocument/2006/relationships/notesSlide" Target="/ppt/notesSlides/notesSlide6.xml" Id="Rfe179f1c269141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48c9f67c94651" /><Relationship Type="http://schemas.openxmlformats.org/officeDocument/2006/relationships/notesSlide" Target="/ppt/notesSlides/notesSlide7.xml" Id="Rcb100efc9a5048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14065f5f3c447a" /><Relationship Type="http://schemas.openxmlformats.org/officeDocument/2006/relationships/notesSlide" Target="/ppt/notesSlides/notesSlide8.xml" Id="Red6c6184c9de4e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cb0732f034a44" /><Relationship Type="http://schemas.openxmlformats.org/officeDocument/2006/relationships/notesSlide" Target="/ppt/notesSlides/notesSlide9.xml" Id="R8dc138ee91d941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67f4e9a234b63" /><Relationship Type="http://schemas.openxmlformats.org/officeDocument/2006/relationships/image" Target="/ppt/media/image2.png" Id="R5b406195832f40f7" /><Relationship Type="http://schemas.openxmlformats.org/officeDocument/2006/relationships/notesSlide" Target="/ppt/notesSlides/notesSlide10.xml" Id="Rb8f20382578049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4E294-B6C3-4445-8F1E-62AC111C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E0C1"/>
                </a:solidFill>
              </a:defRPr>
            </a:pPr>
            <a:r>
              <a:rPr sz="1050" b="1">
                <a:solidFill>
                  <a:srgbClr val="1FE0C1"/>
                </a:solidFill>
              </a:rPr>
              <a:t>KÔMA / RESTAURANT OPERATING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4ECF6-4B67-4CDE-9546-DF4615EB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4F7F7"/>
                </a:solidFill>
              </a:defRPr>
            </a:pPr>
            <a:r>
              <a:rPr sz="4350" b="1">
                <a:solidFill>
                  <a:srgbClr val="F4F7F7"/>
                </a:solidFill>
              </a:rPr>
              <a:t>O restaurante</a:t>
            </a:r>
          </a:p>
          <a:p xmlns:a="http://schemas.openxmlformats.org/drawingml/2006/main">
            <a:pPr algn="l">
              <a:defRPr sz="4350" b="1">
                <a:solidFill>
                  <a:srgbClr val="F4F7F7"/>
                </a:solidFill>
              </a:defRPr>
            </a:pPr>
            <a:r>
              <a:rPr sz="4350" b="1">
                <a:solidFill>
                  <a:srgbClr val="F4F7F7"/>
                </a:solidFill>
              </a:rPr>
              <a:t>em um só fluxo.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50C3F-1910-43E4-A3E0-EB76046F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0B0B2"/>
                </a:solidFill>
              </a:defRPr>
            </a:pPr>
            <a:r>
              <a:rPr sz="1725" b="0">
                <a:solidFill>
                  <a:srgbClr val="A0B0B2"/>
                </a:solidFill>
              </a:rPr>
              <a:t>Uma plataforma SaaS para conectar atendimento, produção, caixa e gestão — sem obrigar o pequeno restaurante a operar vários sistemas.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58303-6205-46CA-859E-E5105AC1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857250"/>
            <a:ext cx="3143250" cy="4667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B191C"/>
          </a:solidFill>
          <a:ln xmlns:a="http://schemas.openxmlformats.org/drawingml/2006/main" w="9525">
            <a:solidFill>
              <a:srgbClr val="173033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5e11882e449cf"/>
          <a:stretch xmlns:a="http://schemas.openxmlformats.org/drawingml/2006/main"/>
        </p:blipFill>
        <p:spPr>
          <a:xfrm xmlns:a="http://schemas.openxmlformats.org/drawingml/2006/main">
            <a:off x="8239125" y="1576259"/>
            <a:ext cx="2476500" cy="303873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B02C5-3A24-4400-9020-8F040334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43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1C039-5AC8-4B7D-BD42-6C870B8E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77A"/>
                </a:solidFill>
              </a:defRPr>
            </a:pPr>
            <a:r>
              <a:rPr sz="975" b="1">
                <a:solidFill>
                  <a:srgbClr val="66777A"/>
                </a:solidFill>
              </a:rPr>
              <a:t>PITCH · SEBRAE STARTUPS ·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C7386-217E-42BB-85FC-D426AD86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2103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FE0C1"/>
                </a:solidFill>
              </a:defRPr>
            </a:pPr>
            <a:r>
              <a:rPr sz="975" b="1">
                <a:solidFill>
                  <a:srgbClr val="1FE0C1"/>
                </a:solidFill>
              </a:rPr>
              <a:t>MVP FUNCIONAL · EM VALIDAÇÃO</a:t>
            </a:r>
          </a:p>
        </p:txBody>
      </p:sp>
    </p:spTree>
    <p:extLst>
      <p:ext uri="{BB962C8B-B14F-4D97-AF65-F5344CB8AC3E}">
        <p14:creationId xmlns:p14="http://schemas.microsoft.com/office/powerpoint/2010/main" val="19647563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0ED6EE-F72F-47F3-84B7-B6546C13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7"/>
                </a:solidFill>
              </a:defRPr>
            </a:pPr>
            <a:r>
              <a:rPr sz="1125" b="1">
                <a:solidFill>
                  <a:srgbClr val="F4F7F7"/>
                </a:solidFill>
              </a:rPr>
              <a:t>KÔMA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A4925-10C0-4160-8E6C-B6C86D2F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E0C1"/>
                </a:solidFill>
              </a:defRPr>
            </a:pPr>
            <a:r>
              <a:rPr sz="975" b="1">
                <a:solidFill>
                  <a:srgbClr val="1FE0C1"/>
                </a:solidFill>
              </a:rPr>
              <a:t>01 / PROBLEMA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4F74A4-4338-4AC7-8BAC-23C189E6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7A"/>
                </a:solidFill>
              </a:defRPr>
            </a:pPr>
            <a:r>
              <a:rPr sz="1050" b="1">
                <a:solidFill>
                  <a:srgbClr val="66777A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0748B-4504-4F45-8489-2A8209CC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01091-8272-40BE-8703-024B0B3F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77A"/>
                </a:solidFill>
              </a:defRPr>
            </a:pPr>
            <a:r>
              <a:rPr sz="825" b="1">
                <a:solidFill>
                  <a:srgbClr val="66777A"/>
                </a:solidFill>
              </a:rPr>
              <a:t>SEBRAE STARTUPS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41097-C030-4106-ACDC-7598311F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E0C1"/>
                </a:solidFill>
              </a:defRPr>
            </a:pPr>
            <a:r>
              <a:rPr sz="1050" b="1">
                <a:solidFill>
                  <a:srgbClr val="1FE0C1"/>
                </a:solidFill>
              </a:rPr>
              <a:t>NO PICO DO ATENDIMENTO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DB0A4-125D-4899-9F0E-558FE55B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7"/>
                </a:solidFill>
              </a:defRPr>
            </a:pPr>
            <a:r>
              <a:rPr sz="3150" b="1">
                <a:solidFill>
                  <a:srgbClr val="F4F7F7"/>
                </a:solidFill>
              </a:rPr>
              <a:t>Quando o salão lota, a informação quebra primeiro.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05DD3F-F713-45DC-BB38-4A9C599B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0B0B2"/>
                </a:solidFill>
              </a:defRPr>
            </a:pPr>
            <a:r>
              <a:rPr sz="1500" b="0">
                <a:solidFill>
                  <a:srgbClr val="A0B0B2"/>
                </a:solidFill>
              </a:rPr>
              <a:t>O erro raramente nasce em uma única tela. Ele aparece na passagem entre atendimento, cozinha e caixa.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AF2A1-B3EF-425F-897F-B1CFAC3C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952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D20E3-ACDB-49A4-B2EF-C12A745F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E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0A4EE-7F63-4BBB-9EDE-8F2E88B5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0D0F"/>
                </a:solidFill>
              </a:defRPr>
            </a:pPr>
            <a:r>
              <a:rPr sz="1350" b="1">
                <a:solidFill>
                  <a:srgbClr val="050D0F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3D1E58-4966-47FE-9169-80D028BA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7"/>
                </a:solidFill>
              </a:defRPr>
            </a:pPr>
            <a:r>
              <a:rPr sz="1800" b="1">
                <a:solidFill>
                  <a:srgbClr val="F4F7F7"/>
                </a:solidFill>
              </a:rPr>
              <a:t>Pedido entra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6E60A-7622-4CE6-874E-B1EF6B3D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0B0B2"/>
                </a:solidFill>
              </a:defRPr>
            </a:pPr>
            <a:r>
              <a:rPr sz="1350" b="0">
                <a:solidFill>
                  <a:srgbClr val="A0B0B2"/>
                </a:solidFill>
              </a:rPr>
              <a:t>Anotação, mensagem ou sistema parcial.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B19D00-936B-45B9-9D2C-3B07E6BD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623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E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110E1-3F9B-40AE-83A2-36B9B912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147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0D0F"/>
                </a:solidFill>
              </a:defRPr>
            </a:pPr>
            <a:r>
              <a:rPr sz="1350" b="1">
                <a:solidFill>
                  <a:srgbClr val="050D0F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1193CD-D38E-4271-A155-FED50714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00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7"/>
                </a:solidFill>
              </a:defRPr>
            </a:pPr>
            <a:r>
              <a:rPr sz="1800" b="1">
                <a:solidFill>
                  <a:srgbClr val="F4F7F7"/>
                </a:solidFill>
              </a:rPr>
              <a:t>Produção recebe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39125C-B01C-45EE-893B-23C38ADE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81012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0B0B2"/>
                </a:solidFill>
              </a:defRPr>
            </a:pPr>
            <a:r>
              <a:rPr sz="1350" b="0">
                <a:solidFill>
                  <a:srgbClr val="A0B0B2"/>
                </a:solidFill>
              </a:rPr>
              <a:t>Observações podem chegar incompletas ou atrasadas.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D505D5-6F54-447E-B077-B8AC83D8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62350"/>
            <a:ext cx="59055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E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59872D-6AE6-4054-A929-4FCB156E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147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0D0F"/>
                </a:solidFill>
              </a:defRPr>
            </a:pPr>
            <a:r>
              <a:rPr sz="1350" b="1">
                <a:solidFill>
                  <a:srgbClr val="050D0F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7BB611-7A0A-4D4F-9A19-34AC0CCD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7F7"/>
                </a:solidFill>
              </a:defRPr>
            </a:pPr>
            <a:r>
              <a:rPr sz="1800" b="1">
                <a:solidFill>
                  <a:srgbClr val="F4F7F7"/>
                </a:solidFill>
              </a:rPr>
              <a:t>Caixa confere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807602-E737-418B-9E77-F19AB78E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10125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0B0B2"/>
                </a:solidFill>
              </a:defRPr>
            </a:pPr>
            <a:r>
              <a:rPr sz="1350" b="0">
                <a:solidFill>
                  <a:srgbClr val="A0B0B2"/>
                </a:solidFill>
              </a:rPr>
              <a:t>Comandas e pagamentos exigem nova checagem.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6077B5-B022-4E73-8417-8DDCC7C4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E0C1"/>
                </a:solidFill>
              </a:defRPr>
            </a:pPr>
            <a:r>
              <a:rPr sz="1800" b="1">
                <a:solidFill>
                  <a:srgbClr val="1FE0C1"/>
                </a:solidFill>
              </a:rPr>
              <a:t>A dor central é operacional: a mesma informação precisa sobreviver ao fluxo inteiro.</a:t>
            </a:r>
          </a:p>
        </p:txBody>
      </p:sp>
    </p:spTree>
    <p:extLst>
      <p:ext uri="{BB962C8B-B14F-4D97-AF65-F5344CB8AC3E}">
        <p14:creationId xmlns:p14="http://schemas.microsoft.com/office/powerpoint/2010/main" val="904772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10F26-5A91-4517-8067-F040D5DA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7"/>
                </a:solidFill>
              </a:defRPr>
            </a:pPr>
            <a:r>
              <a:rPr sz="1125" b="1">
                <a:solidFill>
                  <a:srgbClr val="F4F7F7"/>
                </a:solidFill>
              </a:rPr>
              <a:t>KÔMA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AF0EA-BC32-49B0-BB2E-43E5DE7B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E0C1"/>
                </a:solidFill>
              </a:defRPr>
            </a:pPr>
            <a:r>
              <a:rPr sz="975" b="1">
                <a:solidFill>
                  <a:srgbClr val="1FE0C1"/>
                </a:solidFill>
              </a:rPr>
              <a:t>02 / MERCADO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64353-47CA-4F91-B569-909AF779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7A"/>
                </a:solidFill>
              </a:defRPr>
            </a:pPr>
            <a:r>
              <a:rPr sz="1050" b="1">
                <a:solidFill>
                  <a:srgbClr val="66777A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715B7-9A10-4227-BFFD-58265478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4CB71-1CDB-4CC8-9C8E-4B8990B6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77A"/>
                </a:solidFill>
              </a:defRPr>
            </a:pPr>
            <a:r>
              <a:rPr sz="825" b="1">
                <a:solidFill>
                  <a:srgbClr val="66777A"/>
                </a:solidFill>
              </a:rPr>
              <a:t>SEBRAE STARTUPS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74D45-E059-4C4F-A1F2-67AE0290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E0C1"/>
                </a:solidFill>
              </a:defRPr>
            </a:pPr>
            <a:r>
              <a:rPr sz="1050" b="1">
                <a:solidFill>
                  <a:srgbClr val="1FE0C1"/>
                </a:solidFill>
              </a:rPr>
              <a:t>MERCADO E FOCO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3F7CC-7485-4A2A-BF98-37516464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7"/>
                </a:solidFill>
              </a:defRPr>
            </a:pPr>
            <a:r>
              <a:rPr sz="3150" b="1">
                <a:solidFill>
                  <a:srgbClr val="F4F7F7"/>
                </a:solidFill>
              </a:rPr>
              <a:t>O setor é grande. A entrada precisa ser estreita.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5B4D5-A70D-41B6-BD3C-FD42AB02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0B0B2"/>
                </a:solidFill>
              </a:defRPr>
            </a:pPr>
            <a:r>
              <a:rPr sz="1500" b="0">
                <a:solidFill>
                  <a:srgbClr val="A0B0B2"/>
                </a:solidFill>
              </a:rPr>
              <a:t>A Kôma começa onde proximidade, implantação assistida e velocidade de aprendizado podem vencer a inércia.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62678-D933-4BF5-8229-FEFF8BCB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FE0C1"/>
                </a:solidFill>
              </a:defRPr>
            </a:pPr>
            <a:r>
              <a:rPr sz="4050" b="1">
                <a:solidFill>
                  <a:srgbClr val="1FE0C1"/>
                </a:solidFill>
              </a:rPr>
              <a:t>R$ 495 bi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4D2CB8-4C68-4EE6-844C-806C667B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0B0B2"/>
                </a:solidFill>
              </a:defRPr>
            </a:pPr>
            <a:r>
              <a:rPr sz="1350" b="0">
                <a:solidFill>
                  <a:srgbClr val="A0B0B2"/>
                </a:solidFill>
              </a:rPr>
              <a:t>faturamento de bares e restaurantes em 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A754A8-C26C-47A7-A203-9A6D5430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4F7F7"/>
                </a:solidFill>
              </a:defRPr>
            </a:pPr>
            <a:r>
              <a:rPr sz="4050" b="1">
                <a:solidFill>
                  <a:srgbClr val="F4F7F7"/>
                </a:solidFill>
              </a:rPr>
              <a:t>4,94 mi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BDC10-0029-48AF-AE5A-7BF6EC8B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625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0B0B2"/>
                </a:solidFill>
              </a:defRPr>
            </a:pPr>
            <a:r>
              <a:rPr sz="1350" b="0">
                <a:solidFill>
                  <a:srgbClr val="A0B0B2"/>
                </a:solidFill>
              </a:rPr>
              <a:t>empregos diretos no setor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11E5FD-6213-4790-BA2C-46F05C30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905125"/>
            <a:ext cx="190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C7D483-797D-451C-8661-5B9AF4AC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956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E0C1"/>
                </a:solidFill>
              </a:defRPr>
            </a:pPr>
            <a:r>
              <a:rPr sz="1125" b="1">
                <a:solidFill>
                  <a:srgbClr val="1FE0C1"/>
                </a:solidFill>
              </a:rPr>
              <a:t>CLIENTE INICIAL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6FBD3D-9238-4535-BD8F-437D2B35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7F7"/>
                </a:solidFill>
              </a:defRPr>
            </a:pPr>
            <a:r>
              <a:rPr sz="2175" b="1">
                <a:solidFill>
                  <a:srgbClr val="F4F7F7"/>
                </a:solidFill>
              </a:rPr>
              <a:t>Restaurantes independentes com salão e pedidos de retirada ou delivery.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7373BB-40AD-4DA5-9928-E9FC692F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14875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0B0B2"/>
                </a:solidFill>
              </a:defRPr>
            </a:pPr>
            <a:r>
              <a:rPr sz="1500" b="0">
                <a:solidFill>
                  <a:srgbClr val="A0B0B2"/>
                </a:solidFill>
              </a:rPr>
              <a:t>Entrada proposta: Ceará, com teste acompanhado de perto e aprendizado rápido antes da expansão.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232334-E2F1-4BDB-8405-17ED138B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578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D89A"/>
                </a:solidFill>
              </a:defRPr>
            </a:pPr>
            <a:r>
              <a:rPr sz="1125" b="1">
                <a:solidFill>
                  <a:srgbClr val="F1D89A"/>
                </a:solidFill>
              </a:rPr>
              <a:t>Hipótese de ICP a validar</a:t>
            </a:r>
          </a:p>
        </p:txBody>
      </p:sp>
    </p:spTree>
    <p:extLst>
      <p:ext uri="{BB962C8B-B14F-4D97-AF65-F5344CB8AC3E}">
        <p14:creationId xmlns:p14="http://schemas.microsoft.com/office/powerpoint/2010/main" val="15271783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7FE6E7-3A1C-4241-A9DD-0DF95856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7"/>
                </a:solidFill>
              </a:defRPr>
            </a:pPr>
            <a:r>
              <a:rPr sz="1125" b="1">
                <a:solidFill>
                  <a:srgbClr val="F4F7F7"/>
                </a:solidFill>
              </a:rPr>
              <a:t>KÔMA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0A4D0C-5B78-4DA0-879A-60C623B4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E0C1"/>
                </a:solidFill>
              </a:defRPr>
            </a:pPr>
            <a:r>
              <a:rPr sz="975" b="1">
                <a:solidFill>
                  <a:srgbClr val="1FE0C1"/>
                </a:solidFill>
              </a:rPr>
              <a:t>03 / SOLUÇÃO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F9FFF-1537-4DB8-B805-9AEA0079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7A"/>
                </a:solidFill>
              </a:defRPr>
            </a:pPr>
            <a:r>
              <a:rPr sz="1050" b="1">
                <a:solidFill>
                  <a:srgbClr val="66777A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D659A2-2119-4A9F-9332-B647BB73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AC132-5DBD-4D48-BBA7-BC172974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77A"/>
                </a:solidFill>
              </a:defRPr>
            </a:pPr>
            <a:r>
              <a:rPr sz="825" b="1">
                <a:solidFill>
                  <a:srgbClr val="66777A"/>
                </a:solidFill>
              </a:rPr>
              <a:t>SEBRAE STARTUPS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E2477-D238-44BC-85C5-21E92167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E0C1"/>
                </a:solidFill>
              </a:defRPr>
            </a:pPr>
            <a:r>
              <a:rPr sz="1050" b="1">
                <a:solidFill>
                  <a:srgbClr val="1FE0C1"/>
                </a:solidFill>
              </a:rPr>
              <a:t>UM REGISTRO, VÁRIOS PONTOS DE USO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B9FAB-0663-455B-B9DF-B396A6FB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7"/>
                </a:solidFill>
              </a:defRPr>
            </a:pPr>
            <a:r>
              <a:rPr sz="3150" b="1">
                <a:solidFill>
                  <a:srgbClr val="F4F7F7"/>
                </a:solidFill>
              </a:rPr>
              <a:t>A Kôma mantém o pedido inteiro do início ao fim.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9DDA0-426B-45F7-90AC-A28F627E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0B0B2"/>
                </a:solidFill>
              </a:defRPr>
            </a:pPr>
            <a:r>
              <a:rPr sz="1500" b="0">
                <a:solidFill>
                  <a:srgbClr val="A0B0B2"/>
                </a:solidFill>
              </a:rPr>
              <a:t>Cada área trabalha com o mesmo dado, no momento em que precisa dele.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D535C-3F42-401E-9A45-C1B8675E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895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AF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8F10F-FE04-4D3F-9E52-88A375E2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1428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191C"/>
          </a:solidFill>
          <a:ln xmlns:a="http://schemas.openxmlformats.org/drawingml/2006/main" w="9525">
            <a:solidFill>
              <a:srgbClr val="1730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1963B-0E75-4193-84C2-EEADD74B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71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E0C1"/>
                </a:solidFill>
              </a:defRPr>
            </a:pPr>
            <a:r>
              <a:rPr sz="1050" b="1">
                <a:solidFill>
                  <a:srgbClr val="1FE0C1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01BC5-E259-4877-A39E-D6553688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7"/>
                </a:solidFill>
              </a:defRPr>
            </a:pPr>
            <a:r>
              <a:rPr sz="1350" b="1">
                <a:solidFill>
                  <a:srgbClr val="F4F7F7"/>
                </a:solidFill>
              </a:rPr>
              <a:t>Atendimento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AB8472-7A6C-48A7-BE59-EB16604A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619500"/>
            <a:ext cx="1428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FE0C1"/>
          </a:solidFill>
          <a:ln xmlns:a="http://schemas.openxmlformats.org/drawingml/2006/main" w="9525">
            <a:solidFill>
              <a:srgbClr val="1FE0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764EB7-2929-4250-A741-7FFECF69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71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50D0F"/>
                </a:solidFill>
              </a:defRPr>
            </a:pPr>
            <a:r>
              <a:rPr sz="1050" b="1">
                <a:solidFill>
                  <a:srgbClr val="050D0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CE3FE1-6D10-49AE-B545-9375BADF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1148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0D0F"/>
                </a:solidFill>
              </a:defRPr>
            </a:pPr>
            <a:r>
              <a:rPr sz="1350" b="1">
                <a:solidFill>
                  <a:srgbClr val="050D0F"/>
                </a:solidFill>
              </a:rPr>
              <a:t>Pedido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B80EE9-AFA1-41BC-9095-30A5A90A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19500"/>
            <a:ext cx="1428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191C"/>
          </a:solidFill>
          <a:ln xmlns:a="http://schemas.openxmlformats.org/drawingml/2006/main" w="9525">
            <a:solidFill>
              <a:srgbClr val="17303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CAD59B-6A91-45CF-8D72-58E58EDB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71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E0C1"/>
                </a:solidFill>
              </a:defRPr>
            </a:pPr>
            <a:r>
              <a:rPr sz="1050" b="1">
                <a:solidFill>
                  <a:srgbClr val="1FE0C1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802460-D44D-43CB-8DF9-8FF6D22A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148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7"/>
                </a:solidFill>
              </a:defRPr>
            </a:pPr>
            <a:r>
              <a:rPr sz="1350" b="1">
                <a:solidFill>
                  <a:srgbClr val="F4F7F7"/>
                </a:solidFill>
              </a:rPr>
              <a:t>Produção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D87C5B-09AE-44EC-991A-441D6FF7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619500"/>
            <a:ext cx="1428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191C"/>
          </a:solidFill>
          <a:ln xmlns:a="http://schemas.openxmlformats.org/drawingml/2006/main" w="9525">
            <a:solidFill>
              <a:srgbClr val="17303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A8B486-7C31-401D-B306-C448494E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771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E0C1"/>
                </a:solidFill>
              </a:defRPr>
            </a:pPr>
            <a:r>
              <a:rPr sz="1050" b="1">
                <a:solidFill>
                  <a:srgbClr val="1FE0C1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61B210-5CC2-4606-911D-A2167AD7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1148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7"/>
                </a:solidFill>
              </a:defRPr>
            </a:pPr>
            <a:r>
              <a:rPr sz="1350" b="1">
                <a:solidFill>
                  <a:srgbClr val="F4F7F7"/>
                </a:solidFill>
              </a:rPr>
              <a:t>Caixa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F698A1-5649-4F62-B94A-BBB18F4A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19500"/>
            <a:ext cx="1428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B191C"/>
          </a:solidFill>
          <a:ln xmlns:a="http://schemas.openxmlformats.org/drawingml/2006/main" w="9525">
            <a:solidFill>
              <a:srgbClr val="17303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5B3393-2F62-4B9E-A111-235619FA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7719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E0C1"/>
                </a:solidFill>
              </a:defRPr>
            </a:pPr>
            <a:r>
              <a:rPr sz="1050" b="1">
                <a:solidFill>
                  <a:srgbClr val="1FE0C1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D831E3-54D7-4B44-83F7-EFB74F70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148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7F7"/>
                </a:solidFill>
              </a:defRPr>
            </a:pPr>
            <a:r>
              <a:rPr sz="1350" b="1">
                <a:solidFill>
                  <a:srgbClr val="F4F7F7"/>
                </a:solidFill>
              </a:rPr>
              <a:t>Gestão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C237B1-3E0A-4C62-8644-CE767BB7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0B0B2"/>
                </a:solidFill>
              </a:defRPr>
            </a:pPr>
            <a:r>
              <a:rPr sz="1275" b="0">
                <a:solidFill>
                  <a:srgbClr val="A0B0B2"/>
                </a:solidFill>
              </a:rPr>
              <a:t>Garçom e cardápio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6E54EB-B340-4EAE-82BE-2F981CCA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97205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0B0B2"/>
                </a:solidFill>
              </a:defRPr>
            </a:pPr>
            <a:r>
              <a:rPr sz="1275" b="0">
                <a:solidFill>
                  <a:srgbClr val="A0B0B2"/>
                </a:solidFill>
              </a:rPr>
              <a:t>Comandas e mesas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3E76B0-6CE8-4D9C-905C-2CAB70C5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72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0B0B2"/>
                </a:solidFill>
              </a:defRPr>
            </a:pPr>
            <a:r>
              <a:rPr sz="1275" b="0">
                <a:solidFill>
                  <a:srgbClr val="A0B0B2"/>
                </a:solidFill>
              </a:rPr>
              <a:t>Cozinha e impressão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7C5260-96E3-4C96-84D0-E4A910EB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972050"/>
            <a:ext cx="2143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0B0B2"/>
                </a:solidFill>
              </a:defRPr>
            </a:pPr>
            <a:r>
              <a:rPr sz="1275" b="0">
                <a:solidFill>
                  <a:srgbClr val="A0B0B2"/>
                </a:solidFill>
              </a:rPr>
              <a:t>Fechamento e pagamento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D11995-CA64-470F-B6C1-BADCE3E7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9720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0B0B2"/>
                </a:solidFill>
              </a:defRPr>
            </a:pPr>
            <a:r>
              <a:rPr sz="1275" b="0">
                <a:solidFill>
                  <a:srgbClr val="A0B0B2"/>
                </a:solidFill>
              </a:rPr>
              <a:t>Dados para decisão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2A617D-2291-440F-8EBF-72E2D032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435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E0C1"/>
                </a:solidFill>
              </a:defRPr>
            </a:pPr>
            <a:r>
              <a:rPr sz="1950" b="1">
                <a:solidFill>
                  <a:srgbClr val="1FE0C1"/>
                </a:solidFill>
              </a:rPr>
              <a:t>A informação não é recriada em cada etapa: ela continua.</a:t>
            </a:r>
          </a:p>
        </p:txBody>
      </p:sp>
    </p:spTree>
    <p:extLst>
      <p:ext uri="{BB962C8B-B14F-4D97-AF65-F5344CB8AC3E}">
        <p14:creationId xmlns:p14="http://schemas.microsoft.com/office/powerpoint/2010/main" val="9529883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4BA2B2-1D2C-415D-9021-B5809ABE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7"/>
                </a:solidFill>
              </a:defRPr>
            </a:pPr>
            <a:r>
              <a:rPr sz="1125" b="1">
                <a:solidFill>
                  <a:srgbClr val="F4F7F7"/>
                </a:solidFill>
              </a:rPr>
              <a:t>KÔMA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2C95D-DB5D-4926-B20D-E0A2ACE4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E0C1"/>
                </a:solidFill>
              </a:defRPr>
            </a:pPr>
            <a:r>
              <a:rPr sz="975" b="1">
                <a:solidFill>
                  <a:srgbClr val="1FE0C1"/>
                </a:solidFill>
              </a:rPr>
              <a:t>04 / PRODUTO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15EDD-B93F-4767-8EB1-FA46264A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7A"/>
                </a:solidFill>
              </a:defRPr>
            </a:pPr>
            <a:r>
              <a:rPr sz="1050" b="1">
                <a:solidFill>
                  <a:srgbClr val="66777A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54F8F-D0B1-4C6C-9171-F03DC85A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28EAD-9185-46EE-B891-2A047243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77A"/>
                </a:solidFill>
              </a:defRPr>
            </a:pPr>
            <a:r>
              <a:rPr sz="825" b="1">
                <a:solidFill>
                  <a:srgbClr val="66777A"/>
                </a:solidFill>
              </a:rPr>
              <a:t>SEBRAE STARTUPS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F48FF-F32A-4F64-836A-B1D56A1E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E0C1"/>
                </a:solidFill>
              </a:defRPr>
            </a:pPr>
            <a:r>
              <a:rPr sz="1050" b="1">
                <a:solidFill>
                  <a:srgbClr val="1FE0C1"/>
                </a:solidFill>
              </a:rPr>
              <a:t>ESTADO ATUAL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47698-A831-4257-B9F8-1AADF6F9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7"/>
                </a:solidFill>
              </a:defRPr>
            </a:pPr>
            <a:r>
              <a:rPr sz="3150" b="1">
                <a:solidFill>
                  <a:srgbClr val="F4F7F7"/>
                </a:solidFill>
              </a:rPr>
              <a:t>O MVP já cobre o núcleo da operação.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86E8D-2CB1-4168-8619-2C5609D6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0B0B2"/>
                </a:solidFill>
              </a:defRPr>
            </a:pPr>
            <a:r>
              <a:rPr sz="1500" b="0">
                <a:solidFill>
                  <a:srgbClr val="A0B0B2"/>
                </a:solidFill>
              </a:rPr>
              <a:t>A próxima prova não é adicionar mais módulos. É funcionar bem durante um atendimento real.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CE2D4-AF18-4DE0-8226-D861B27E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3524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FE0C1"/>
                </a:solidFill>
              </a:defRPr>
            </a:pPr>
            <a:r>
              <a:rPr sz="3900" b="1">
                <a:solidFill>
                  <a:srgbClr val="1FE0C1"/>
                </a:solidFill>
              </a:rPr>
              <a:t>MVP</a:t>
            </a:r>
          </a:p>
          <a:p xmlns:a="http://schemas.openxmlformats.org/drawingml/2006/main">
            <a:pPr algn="l">
              <a:defRPr sz="3900" b="1">
                <a:solidFill>
                  <a:srgbClr val="1FE0C1"/>
                </a:solidFill>
              </a:defRPr>
            </a:pPr>
            <a:r>
              <a:rPr sz="3900" b="1">
                <a:solidFill>
                  <a:srgbClr val="1FE0C1"/>
                </a:solidFill>
              </a:rPr>
              <a:t>FUNCIONAL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7C663-9591-4762-807A-F6875B4D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0B0B2"/>
                </a:solidFill>
              </a:defRPr>
            </a:pPr>
            <a:r>
              <a:rPr sz="1575" b="0">
                <a:solidFill>
                  <a:srgbClr val="A0B0B2"/>
                </a:solidFill>
              </a:rPr>
              <a:t>Fluxos integrados e impressão física em evolução.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9C9554-D299-4F2C-A3AD-A2A0F704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0B00B-E136-455B-94C0-D25E1796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48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E0C1"/>
                </a:solidFill>
              </a:defRPr>
            </a:pPr>
            <a:r>
              <a:rPr sz="1125" b="1">
                <a:solidFill>
                  <a:srgbClr val="1FE0C1"/>
                </a:solidFill>
              </a:rPr>
              <a:t>JÁ IMPLEMENTADO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F6638-4481-4594-B0F2-DCB5CD7D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05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E0C1"/>
                </a:solidFill>
              </a:defRPr>
            </a:pPr>
            <a:r>
              <a:rPr sz="1650" b="1">
                <a:solidFill>
                  <a:srgbClr val="1FE0C1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F50751-435B-4673-8DA0-6271DDC7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05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7"/>
                </a:solidFill>
              </a:defRPr>
            </a:pPr>
            <a:r>
              <a:rPr sz="1500" b="0">
                <a:solidFill>
                  <a:srgbClr val="F4F7F7"/>
                </a:solidFill>
              </a:rPr>
              <a:t>Pedidos, mesas e comandas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EFA56-42F0-46DF-8C4A-D85C281B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243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E0C1"/>
                </a:solidFill>
              </a:defRPr>
            </a:pPr>
            <a:r>
              <a:rPr sz="1650" b="1">
                <a:solidFill>
                  <a:srgbClr val="1FE0C1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7E8071-1A83-4558-9E05-FE0AA74B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243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7"/>
                </a:solidFill>
              </a:defRPr>
            </a:pPr>
            <a:r>
              <a:rPr sz="1500" b="0">
                <a:solidFill>
                  <a:srgbClr val="F4F7F7"/>
                </a:solidFill>
              </a:rPr>
              <a:t>Caixa e fechamento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9752FA-8D21-4262-8233-E6083776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43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E0C1"/>
                </a:solidFill>
              </a:defRPr>
            </a:pPr>
            <a:r>
              <a:rPr sz="1650" b="1">
                <a:solidFill>
                  <a:srgbClr val="1FE0C1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39C7FC-FE8C-4BA5-BE74-B2F51CCF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43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7"/>
                </a:solidFill>
              </a:defRPr>
            </a:pPr>
            <a:r>
              <a:rPr sz="1500" b="0">
                <a:solidFill>
                  <a:srgbClr val="F4F7F7"/>
                </a:solidFill>
              </a:rPr>
              <a:t>Produção e impressão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3CDD0D-DD66-40C5-B4A2-AC395E05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62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E0C1"/>
                </a:solidFill>
              </a:defRPr>
            </a:pPr>
            <a:r>
              <a:rPr sz="1650" b="1">
                <a:solidFill>
                  <a:srgbClr val="1FE0C1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F4523A-3EE9-49E3-9F9B-10C73A7B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62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7"/>
                </a:solidFill>
              </a:defRPr>
            </a:pPr>
            <a:r>
              <a:rPr sz="1500" b="0">
                <a:solidFill>
                  <a:srgbClr val="F4F7F7"/>
                </a:solidFill>
              </a:rPr>
              <a:t>Cardápio digital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797903-FF4A-4CAC-9B3B-75281EA4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1816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E0C1"/>
                </a:solidFill>
              </a:defRPr>
            </a:pPr>
            <a:r>
              <a:rPr sz="1650" b="1">
                <a:solidFill>
                  <a:srgbClr val="1FE0C1"/>
                </a:solidFill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176FF3-3C04-4668-818C-3EE3004A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81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7"/>
                </a:solidFill>
              </a:defRPr>
            </a:pPr>
            <a:r>
              <a:rPr sz="1500" b="0">
                <a:solidFill>
                  <a:srgbClr val="F4F7F7"/>
                </a:solidFill>
              </a:rPr>
              <a:t>Cadastro de clientes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2CEA35-6155-4ADA-A3E2-68854206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48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1D89A"/>
                </a:solidFill>
              </a:defRPr>
            </a:pPr>
            <a:r>
              <a:rPr sz="1125" b="1">
                <a:solidFill>
                  <a:srgbClr val="F1D89A"/>
                </a:solidFill>
              </a:rPr>
              <a:t>PRÓXIMA PROVA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2F346E-993D-4E2E-807B-88D19087A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05200"/>
            <a:ext cx="20955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7"/>
                </a:solidFill>
              </a:defRPr>
            </a:pPr>
            <a:r>
              <a:rPr sz="1725" b="1">
                <a:solidFill>
                  <a:srgbClr val="F4F7F7"/>
                </a:solidFill>
              </a:rPr>
              <a:t>Estabilidade</a:t>
            </a:r>
          </a:p>
          <a:p xmlns:a="http://schemas.openxmlformats.org/drawingml/2006/main">
            <a:pPr algn="l">
              <a:defRPr sz="1725" b="1">
                <a:solidFill>
                  <a:srgbClr val="F4F7F7"/>
                </a:solidFill>
              </a:defRPr>
            </a:pPr>
            <a:r>
              <a:rPr sz="1725" b="1">
                <a:solidFill>
                  <a:srgbClr val="F4F7F7"/>
                </a:solidFill>
              </a:rPr>
              <a:t>Velocidade</a:t>
            </a:r>
          </a:p>
          <a:p xmlns:a="http://schemas.openxmlformats.org/drawingml/2006/main">
            <a:pPr algn="l">
              <a:defRPr sz="1725" b="1">
                <a:solidFill>
                  <a:srgbClr val="F4F7F7"/>
                </a:solidFill>
              </a:defRPr>
            </a:pPr>
            <a:r>
              <a:rPr sz="1725" b="1">
                <a:solidFill>
                  <a:srgbClr val="F4F7F7"/>
                </a:solidFill>
              </a:rPr>
              <a:t>Usabilidade</a:t>
            </a:r>
          </a:p>
          <a:p xmlns:a="http://schemas.openxmlformats.org/drawingml/2006/main">
            <a:pPr algn="l">
              <a:defRPr sz="1725" b="1">
                <a:solidFill>
                  <a:srgbClr val="F4F7F7"/>
                </a:solidFill>
              </a:defRPr>
            </a:pPr>
            <a:r>
              <a:rPr sz="1725" b="1">
                <a:solidFill>
                  <a:srgbClr val="F4F7F7"/>
                </a:solidFill>
              </a:rPr>
              <a:t>Onboarding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1B1407-8CB5-40C0-9510-D05E111F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429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0B0B2"/>
                </a:solidFill>
              </a:defRPr>
            </a:pPr>
            <a:r>
              <a:rPr sz="1350" b="0">
                <a:solidFill>
                  <a:srgbClr val="A0B0B2"/>
                </a:solidFill>
              </a:rPr>
              <a:t>em operação real</a:t>
            </a:r>
          </a:p>
        </p:txBody>
      </p:sp>
    </p:spTree>
    <p:extLst>
      <p:ext uri="{BB962C8B-B14F-4D97-AF65-F5344CB8AC3E}">
        <p14:creationId xmlns:p14="http://schemas.microsoft.com/office/powerpoint/2010/main" val="13661218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F21C15-C03E-49FF-9ED9-F14AB569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7"/>
                </a:solidFill>
              </a:defRPr>
            </a:pPr>
            <a:r>
              <a:rPr sz="1125" b="1">
                <a:solidFill>
                  <a:srgbClr val="F4F7F7"/>
                </a:solidFill>
              </a:rPr>
              <a:t>KÔMA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4131E-0AFC-4F90-9AFC-87E3F6A9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E0C1"/>
                </a:solidFill>
              </a:defRPr>
            </a:pPr>
            <a:r>
              <a:rPr sz="975" b="1">
                <a:solidFill>
                  <a:srgbClr val="1FE0C1"/>
                </a:solidFill>
              </a:rPr>
              <a:t>05 / POSICIONAMENTO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0E3E2-4319-42F1-8E55-9FB9BE50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7A"/>
                </a:solidFill>
              </a:defRPr>
            </a:pPr>
            <a:r>
              <a:rPr sz="1050" b="1">
                <a:solidFill>
                  <a:srgbClr val="66777A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9F78C-4D3F-4506-A0E3-0CA2CBFC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FDE8C-DCC2-4134-B2CE-1F28309F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77A"/>
                </a:solidFill>
              </a:defRPr>
            </a:pPr>
            <a:r>
              <a:rPr sz="825" b="1">
                <a:solidFill>
                  <a:srgbClr val="66777A"/>
                </a:solidFill>
              </a:rPr>
              <a:t>SEBRAE STARTUPS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DDF2C-370C-4E45-BAEE-66030078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E0C1"/>
                </a:solidFill>
              </a:defRPr>
            </a:pPr>
            <a:r>
              <a:rPr sz="1050" b="1">
                <a:solidFill>
                  <a:srgbClr val="1FE0C1"/>
                </a:solidFill>
              </a:rPr>
              <a:t>TESE DE PRODUTO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151FAC-BEF2-4111-A073-8BCE0EAC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7"/>
                </a:solidFill>
              </a:defRPr>
            </a:pPr>
            <a:r>
              <a:rPr sz="3150" b="1">
                <a:solidFill>
                  <a:srgbClr val="F4F7F7"/>
                </a:solidFill>
              </a:rPr>
              <a:t>Não queremos ser o sistema com mais telas.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E1CFC-0F9E-4CC9-A822-DCCC017D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0B0B2"/>
                </a:solidFill>
              </a:defRPr>
            </a:pPr>
            <a:r>
              <a:rPr sz="1500" b="0">
                <a:solidFill>
                  <a:srgbClr val="A0B0B2"/>
                </a:solidFill>
              </a:rPr>
              <a:t>Queremos ser o caminho mais simples entre o pedido e uma operação organizada.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25F46C-2B45-4733-8F91-3B4622EB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7F7"/>
                </a:solidFill>
              </a:defRPr>
            </a:pPr>
            <a:r>
              <a:rPr sz="3000" b="1">
                <a:solidFill>
                  <a:srgbClr val="F4F7F7"/>
                </a:solidFill>
              </a:rPr>
              <a:t>MENOS CONFIGURAÇÃO.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5ADD0-E427-436D-B9C8-ACF0B550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E0C1"/>
                </a:solidFill>
              </a:defRPr>
            </a:pPr>
            <a:r>
              <a:rPr sz="3000" b="1">
                <a:solidFill>
                  <a:srgbClr val="1FE0C1"/>
                </a:solidFill>
              </a:rPr>
              <a:t>MAIS OPERAÇÃO CONECTADA.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55E29-FE4D-47E4-A8CA-82BC4478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2B689-055A-4CAB-A6CD-A145E51D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7"/>
                </a:solidFill>
              </a:defRPr>
            </a:pPr>
            <a:r>
              <a:rPr sz="1650" b="1">
                <a:solidFill>
                  <a:srgbClr val="F4F7F7"/>
                </a:solidFill>
              </a:rPr>
              <a:t>Entrada modular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357D84-7CD5-492F-B72F-C9B8A1B8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0B0B2"/>
                </a:solidFill>
              </a:defRPr>
            </a:pPr>
            <a:r>
              <a:rPr sz="1275" b="0">
                <a:solidFill>
                  <a:srgbClr val="A0B0B2"/>
                </a:solidFill>
              </a:rPr>
              <a:t>O restaurante começa pelo que precisa e expande depois.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38B251-F6E2-40B6-9A2A-5D9829CD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101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E0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1A91ED-52CD-4D75-9C35-A88CC7C9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48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7"/>
                </a:solidFill>
              </a:defRPr>
            </a:pPr>
            <a:r>
              <a:rPr sz="1650" b="1">
                <a:solidFill>
                  <a:srgbClr val="F4F7F7"/>
                </a:solidFill>
              </a:rPr>
              <a:t>Fluxo contínuo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8CB1B8-AAE1-4178-A087-0454354A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673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0B0B2"/>
                </a:solidFill>
              </a:defRPr>
            </a:pPr>
            <a:r>
              <a:rPr sz="1275" b="0">
                <a:solidFill>
                  <a:srgbClr val="A0B0B2"/>
                </a:solidFill>
              </a:rPr>
              <a:t>Atendimento, produção e caixa compartilham a mesma operação.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09ABF2-9791-4E6B-AF52-CBACCFE7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0125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6DBA91-33D1-4AEB-A351-804F8C4B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7"/>
                </a:solidFill>
              </a:defRPr>
            </a:pPr>
            <a:r>
              <a:rPr sz="1650" b="1">
                <a:solidFill>
                  <a:srgbClr val="F4F7F7"/>
                </a:solidFill>
              </a:rPr>
              <a:t>Implantação próxima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96E03A-4382-4BFB-9D31-329AB023F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673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0B0B2"/>
                </a:solidFill>
              </a:defRPr>
            </a:pPr>
            <a:r>
              <a:rPr sz="1275" b="0">
                <a:solidFill>
                  <a:srgbClr val="A0B0B2"/>
                </a:solidFill>
              </a:rPr>
              <a:t>Adoção acompanhada para aprender com a rotina real.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CE60CA-B017-4A8A-8DDC-8AC72832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33875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1D89A"/>
                </a:solidFill>
              </a:defRPr>
            </a:pPr>
            <a:r>
              <a:rPr sz="1125" b="1">
                <a:solidFill>
                  <a:srgbClr val="F1D89A"/>
                </a:solidFill>
              </a:rPr>
              <a:t>Hipótese de posicionamento — será medida nos pilotos.</a:t>
            </a:r>
          </a:p>
        </p:txBody>
      </p:sp>
    </p:spTree>
    <p:extLst>
      <p:ext uri="{BB962C8B-B14F-4D97-AF65-F5344CB8AC3E}">
        <p14:creationId xmlns:p14="http://schemas.microsoft.com/office/powerpoint/2010/main" val="386649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1288A4-685E-4C4D-9695-24061C84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7"/>
                </a:solidFill>
              </a:defRPr>
            </a:pPr>
            <a:r>
              <a:rPr sz="1125" b="1">
                <a:solidFill>
                  <a:srgbClr val="F4F7F7"/>
                </a:solidFill>
              </a:rPr>
              <a:t>KÔMA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6D277-C255-4424-A6D5-BD5945CC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E0C1"/>
                </a:solidFill>
              </a:defRPr>
            </a:pPr>
            <a:r>
              <a:rPr sz="975" b="1">
                <a:solidFill>
                  <a:srgbClr val="1FE0C1"/>
                </a:solidFill>
              </a:rPr>
              <a:t>06 / MODELO DE NEGÓCIO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229AE-A289-4A5F-8356-F0487561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7A"/>
                </a:solidFill>
              </a:defRPr>
            </a:pPr>
            <a:r>
              <a:rPr sz="1050" b="1">
                <a:solidFill>
                  <a:srgbClr val="66777A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D48C1-325D-4130-A95F-D7E23E7C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4C98D-E44B-48B1-A0DB-7268A2DA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77A"/>
                </a:solidFill>
              </a:defRPr>
            </a:pPr>
            <a:r>
              <a:rPr sz="825" b="1">
                <a:solidFill>
                  <a:srgbClr val="66777A"/>
                </a:solidFill>
              </a:rPr>
              <a:t>SEBRAE STARTUPS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367E4-D2FE-46C1-904A-F03EEFB8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E0C1"/>
                </a:solidFill>
              </a:defRPr>
            </a:pPr>
            <a:r>
              <a:rPr sz="1050" b="1">
                <a:solidFill>
                  <a:srgbClr val="1FE0C1"/>
                </a:solidFill>
              </a:rPr>
              <a:t>RECEITA RECORRENTE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32C25-9158-42EA-B356-AE08541D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7"/>
                </a:solidFill>
              </a:defRPr>
            </a:pPr>
            <a:r>
              <a:rPr sz="3150" b="1">
                <a:solidFill>
                  <a:srgbClr val="F4F7F7"/>
                </a:solidFill>
              </a:rPr>
              <a:t>A receita cresce com a operação do cliente.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F3140-3564-49B5-B4ED-7BE4DCFB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0B0B2"/>
                </a:solidFill>
              </a:defRPr>
            </a:pPr>
            <a:r>
              <a:rPr sz="1500" b="0">
                <a:solidFill>
                  <a:srgbClr val="A0B0B2"/>
                </a:solidFill>
              </a:rPr>
              <a:t>Assinatura por estabelecimento, implantação guiada e módulos adicionais conforme a necessidade.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C81DD-EE96-4210-870E-1A6728ED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28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E0C1"/>
                </a:solidFill>
              </a:defRPr>
            </a:pPr>
            <a:r>
              <a:rPr sz="3600" b="1">
                <a:solidFill>
                  <a:srgbClr val="1FE0C1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D4585-CC1D-4D4A-BE45-BF4FED6E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7F7"/>
                </a:solidFill>
              </a:defRPr>
            </a:pPr>
            <a:r>
              <a:rPr sz="1950" b="1">
                <a:solidFill>
                  <a:srgbClr val="F4F7F7"/>
                </a:solidFill>
              </a:rPr>
              <a:t>Assinatura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ACF97-62B3-498F-9198-884AF45B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0B0B2"/>
                </a:solidFill>
              </a:defRPr>
            </a:pPr>
            <a:r>
              <a:rPr sz="1350" b="0">
                <a:solidFill>
                  <a:srgbClr val="A0B0B2"/>
                </a:solidFill>
              </a:rPr>
              <a:t>Núcleo operacional com cobrança mensal.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B206DA-0B63-49B0-9DD2-53FC2D6A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924300"/>
            <a:ext cx="41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E0C1"/>
                </a:solidFill>
              </a:defRPr>
            </a:pPr>
            <a:r>
              <a:rPr sz="2850" b="1">
                <a:solidFill>
                  <a:srgbClr val="1FE0C1"/>
                </a:solidFill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FA5E2-E148-48A5-8DC5-C372932A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43250"/>
            <a:ext cx="1028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033"/>
                </a:solidFill>
              </a:defRPr>
            </a:pPr>
            <a:r>
              <a:rPr sz="3600" b="1">
                <a:solidFill>
                  <a:srgbClr val="173033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4229B-503C-4B76-BBE1-A051C649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38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7F7"/>
                </a:solidFill>
              </a:defRPr>
            </a:pPr>
            <a:r>
              <a:rPr sz="1950" b="1">
                <a:solidFill>
                  <a:srgbClr val="F4F7F7"/>
                </a:solidFill>
              </a:rPr>
              <a:t>Onboarding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A0246-22E5-4500-AF70-6DE5A015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148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0B0B2"/>
                </a:solidFill>
              </a:defRPr>
            </a:pPr>
            <a:r>
              <a:rPr sz="1350" b="0">
                <a:solidFill>
                  <a:srgbClr val="A0B0B2"/>
                </a:solidFill>
              </a:rPr>
              <a:t>Configuração, treinamento e entrada assistida.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88553-18F4-4CAB-83C6-12720689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24300"/>
            <a:ext cx="419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E0C1"/>
                </a:solidFill>
              </a:defRPr>
            </a:pPr>
            <a:r>
              <a:rPr sz="2850" b="1">
                <a:solidFill>
                  <a:srgbClr val="1FE0C1"/>
                </a:solidFill>
              </a:rPr>
              <a:t>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59FAE-0FE6-403E-904E-29E0A062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1028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3033"/>
                </a:solidFill>
              </a:defRPr>
            </a:pPr>
            <a:r>
              <a:rPr sz="3600" b="1">
                <a:solidFill>
                  <a:srgbClr val="173033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9AC58D-BC1C-4E09-8811-9EA41435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38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7F7"/>
                </a:solidFill>
              </a:defRPr>
            </a:pPr>
            <a:r>
              <a:rPr sz="1950" b="1">
                <a:solidFill>
                  <a:srgbClr val="F4F7F7"/>
                </a:solidFill>
              </a:rPr>
              <a:t>Add-ons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25205F-60C2-4E1B-84EB-B9DFEF7B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148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0B0B2"/>
                </a:solidFill>
              </a:defRPr>
            </a:pPr>
            <a:r>
              <a:rPr sz="1350" b="0">
                <a:solidFill>
                  <a:srgbClr val="A0B0B2"/>
                </a:solidFill>
              </a:rPr>
              <a:t>Cardápio, cozinha, SmartPOS e novos recursos.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D0AE6F-DC07-413B-8CCE-70E7BE09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191C"/>
          </a:solidFill>
          <a:ln xmlns:a="http://schemas.openxmlformats.org/drawingml/2006/main" w="9525">
            <a:solidFill>
              <a:srgbClr val="17303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137F22-58B2-40A4-9CFF-9BA8334E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34050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7F7"/>
                </a:solidFill>
              </a:defRPr>
            </a:pPr>
            <a:r>
              <a:rPr sz="1350" b="1">
                <a:solidFill>
                  <a:srgbClr val="F4F7F7"/>
                </a:solidFill>
              </a:rPr>
              <a:t>Hipótese comercial: reduzir a barreira de entrada e ampliar o ticket conforme o restaurante adota novos módulos.</a:t>
            </a:r>
          </a:p>
        </p:txBody>
      </p:sp>
    </p:spTree>
    <p:extLst>
      <p:ext uri="{BB962C8B-B14F-4D97-AF65-F5344CB8AC3E}">
        <p14:creationId xmlns:p14="http://schemas.microsoft.com/office/powerpoint/2010/main" val="18869376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A415A8-FEC0-4E35-9C87-4EA4CE53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7"/>
                </a:solidFill>
              </a:defRPr>
            </a:pPr>
            <a:r>
              <a:rPr sz="1125" b="1">
                <a:solidFill>
                  <a:srgbClr val="F4F7F7"/>
                </a:solidFill>
              </a:rPr>
              <a:t>KÔMA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B99EB-4C0E-4EF6-84B6-300A7D2E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E0C1"/>
                </a:solidFill>
              </a:defRPr>
            </a:pPr>
            <a:r>
              <a:rPr sz="975" b="1">
                <a:solidFill>
                  <a:srgbClr val="1FE0C1"/>
                </a:solidFill>
              </a:rPr>
              <a:t>07 / VALIDAÇÃO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A9C32-AEB0-4173-B9A3-F23D5525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7A"/>
                </a:solidFill>
              </a:defRPr>
            </a:pPr>
            <a:r>
              <a:rPr sz="1050" b="1">
                <a:solidFill>
                  <a:srgbClr val="66777A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BD899-8CB5-4C59-B489-17441FB4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55A25C-7B23-4D44-8B1F-C4463FC5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77A"/>
                </a:solidFill>
              </a:defRPr>
            </a:pPr>
            <a:r>
              <a:rPr sz="825" b="1">
                <a:solidFill>
                  <a:srgbClr val="66777A"/>
                </a:solidFill>
              </a:rPr>
              <a:t>SEBRAE STARTUPS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FC39E-D195-4112-927B-04838096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E0C1"/>
                </a:solidFill>
              </a:defRPr>
            </a:pPr>
            <a:r>
              <a:rPr sz="1050" b="1">
                <a:solidFill>
                  <a:srgbClr val="1FE0C1"/>
                </a:solidFill>
              </a:rPr>
              <a:t>PLANO DE EXECUÇÃO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FCB47B-4A97-4ABD-A2B0-67D0B774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7"/>
                </a:solidFill>
              </a:defRPr>
            </a:pPr>
            <a:r>
              <a:rPr sz="3150" b="1">
                <a:solidFill>
                  <a:srgbClr val="F4F7F7"/>
                </a:solidFill>
              </a:rPr>
              <a:t>90 dias para transformar produto em evidência.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258FC-7419-43B7-956F-D35575B9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0B0B2"/>
                </a:solidFill>
              </a:defRPr>
            </a:pPr>
            <a:r>
              <a:rPr sz="1500" b="0">
                <a:solidFill>
                  <a:srgbClr val="A0B0B2"/>
                </a:solidFill>
              </a:rPr>
              <a:t>Metas de validação — não resultados já alcançados.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D89DD-BE06-478D-9529-47CA8A39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E0C1"/>
                </a:solidFill>
              </a:defRPr>
            </a:pPr>
            <a:r>
              <a:rPr sz="3300" b="1">
                <a:solidFill>
                  <a:srgbClr val="1FE0C1"/>
                </a:solidFill>
              </a:rPr>
              <a:t>0–30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839D65-2DA0-40C2-A3A5-62EB90E6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8BEE7-A509-41BB-AA40-F73E58E8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7"/>
                </a:solidFill>
              </a:defRPr>
            </a:pPr>
            <a:r>
              <a:rPr sz="2025" b="1">
                <a:solidFill>
                  <a:srgbClr val="F4F7F7"/>
                </a:solidFill>
              </a:rPr>
              <a:t>Entender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B2C7F-0804-4D90-AE06-365022FC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304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0B0B2"/>
                </a:solidFill>
              </a:defRPr>
            </a:pPr>
            <a:r>
              <a:rPr sz="1500" b="0">
                <a:solidFill>
                  <a:srgbClr val="A0B0B2"/>
                </a:solidFill>
              </a:rPr>
              <a:t>10 entrevistas</a:t>
            </a:r>
          </a:p>
          <a:p xmlns:a="http://schemas.openxmlformats.org/drawingml/2006/main">
            <a:pPr algn="l">
              <a:defRPr sz="1500" b="0">
                <a:solidFill>
                  <a:srgbClr val="A0B0B2"/>
                </a:solidFill>
              </a:defRPr>
            </a:pPr>
            <a:r>
              <a:rPr sz="1500" b="0">
                <a:solidFill>
                  <a:srgbClr val="A0B0B2"/>
                </a:solidFill>
              </a:rPr>
              <a:t>Selecionar 3 pilotos</a:t>
            </a:r>
          </a:p>
          <a:p xmlns:a="http://schemas.openxmlformats.org/drawingml/2006/main">
            <a:pPr algn="l">
              <a:defRPr sz="1500" b="0">
                <a:solidFill>
                  <a:srgbClr val="A0B0B2"/>
                </a:solidFill>
              </a:defRPr>
            </a:pPr>
            <a:r>
              <a:rPr sz="1500" b="0">
                <a:solidFill>
                  <a:srgbClr val="A0B0B2"/>
                </a:solidFill>
              </a:rPr>
              <a:t>Fixar métricas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A100D-92C2-4017-89F2-E6992195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861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E0C1"/>
                </a:solidFill>
              </a:defRPr>
            </a:pPr>
            <a:r>
              <a:rPr sz="3300" b="1">
                <a:solidFill>
                  <a:srgbClr val="1FE0C1"/>
                </a:solidFill>
              </a:rPr>
              <a:t>31–60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7E45F-0DB4-48CB-BA50-024F20DE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719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F6953E-59B0-419B-A897-152C43CD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7"/>
                </a:solidFill>
              </a:defRPr>
            </a:pPr>
            <a:r>
              <a:rPr sz="2025" b="1">
                <a:solidFill>
                  <a:srgbClr val="F4F7F7"/>
                </a:solidFill>
              </a:rPr>
              <a:t>Operar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2CDE4D-860E-431E-AC9E-8EF3ED8C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72000"/>
            <a:ext cx="304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0B0B2"/>
                </a:solidFill>
              </a:defRPr>
            </a:pPr>
            <a:r>
              <a:rPr sz="1500" b="0">
                <a:solidFill>
                  <a:srgbClr val="A0B0B2"/>
                </a:solidFill>
              </a:rPr>
              <a:t>Rodar atendimentos</a:t>
            </a:r>
          </a:p>
          <a:p xmlns:a="http://schemas.openxmlformats.org/drawingml/2006/main">
            <a:pPr algn="l">
              <a:defRPr sz="1500" b="0">
                <a:solidFill>
                  <a:srgbClr val="A0B0B2"/>
                </a:solidFill>
              </a:defRPr>
            </a:pPr>
            <a:r>
              <a:rPr sz="1500" b="0">
                <a:solidFill>
                  <a:srgbClr val="A0B0B2"/>
                </a:solidFill>
              </a:rPr>
              <a:t>Medir falhas e tempo</a:t>
            </a:r>
          </a:p>
          <a:p xmlns:a="http://schemas.openxmlformats.org/drawingml/2006/main">
            <a:pPr algn="l">
              <a:defRPr sz="1500" b="0">
                <a:solidFill>
                  <a:srgbClr val="A0B0B2"/>
                </a:solidFill>
              </a:defRPr>
            </a:pPr>
            <a:r>
              <a:rPr sz="1500" b="0">
                <a:solidFill>
                  <a:srgbClr val="A0B0B2"/>
                </a:solidFill>
              </a:rPr>
              <a:t>Observar adoção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39286C-DAB9-4931-BA20-41856696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861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E0C1"/>
                </a:solidFill>
              </a:defRPr>
            </a:pPr>
            <a:r>
              <a:rPr sz="3300" b="1">
                <a:solidFill>
                  <a:srgbClr val="1FE0C1"/>
                </a:solidFill>
              </a:rPr>
              <a:t>61–90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C9701-8F97-4BF8-AEF8-F37F66BA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7190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08C351-EFA3-4C09-8E85-73D7F666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481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7"/>
                </a:solidFill>
              </a:defRPr>
            </a:pPr>
            <a:r>
              <a:rPr sz="2025" b="1">
                <a:solidFill>
                  <a:srgbClr val="F4F7F7"/>
                </a:solidFill>
              </a:rPr>
              <a:t>Repetir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4A2CC0-AD2F-452A-B16A-5E1508BF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72000"/>
            <a:ext cx="304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0B0B2"/>
                </a:solidFill>
              </a:defRPr>
            </a:pPr>
            <a:r>
              <a:rPr sz="1500" b="0">
                <a:solidFill>
                  <a:srgbClr val="A0B0B2"/>
                </a:solidFill>
              </a:rPr>
              <a:t>Ajustar preço</a:t>
            </a:r>
          </a:p>
          <a:p xmlns:a="http://schemas.openxmlformats.org/drawingml/2006/main">
            <a:pPr algn="l">
              <a:defRPr sz="1500" b="0">
                <a:solidFill>
                  <a:srgbClr val="A0B0B2"/>
                </a:solidFill>
              </a:defRPr>
            </a:pPr>
            <a:r>
              <a:rPr sz="1500" b="0">
                <a:solidFill>
                  <a:srgbClr val="A0B0B2"/>
                </a:solidFill>
              </a:rPr>
              <a:t>Fechar onboarding</a:t>
            </a:r>
          </a:p>
          <a:p xmlns:a="http://schemas.openxmlformats.org/drawingml/2006/main">
            <a:pPr algn="l">
              <a:defRPr sz="1500" b="0">
                <a:solidFill>
                  <a:srgbClr val="A0B0B2"/>
                </a:solidFill>
              </a:defRPr>
            </a:pPr>
            <a:r>
              <a:rPr sz="1500" b="0">
                <a:solidFill>
                  <a:srgbClr val="A0B0B2"/>
                </a:solidFill>
              </a:rPr>
              <a:t>Documentar 1 caso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D1EE01-F697-4C17-AA39-F43B93C0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7F7"/>
                </a:solidFill>
              </a:defRPr>
            </a:pPr>
            <a:r>
              <a:rPr sz="1650" b="1">
                <a:solidFill>
                  <a:srgbClr val="F4F7F7"/>
                </a:solidFill>
              </a:rPr>
              <a:t>Sinal de avanço: restaurante usando, equipe adotando e processo de implantação repetível.</a:t>
            </a:r>
          </a:p>
        </p:txBody>
      </p:sp>
    </p:spTree>
    <p:extLst>
      <p:ext uri="{BB962C8B-B14F-4D97-AF65-F5344CB8AC3E}">
        <p14:creationId xmlns:p14="http://schemas.microsoft.com/office/powerpoint/2010/main" val="1113635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9E6B07-26F5-4846-A126-62E510CB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7F7"/>
                </a:solidFill>
              </a:defRPr>
            </a:pPr>
            <a:r>
              <a:rPr sz="1125" b="1">
                <a:solidFill>
                  <a:srgbClr val="F4F7F7"/>
                </a:solidFill>
              </a:rPr>
              <a:t>KÔMA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C5EB5-DBDA-4202-B2D7-171CBBE5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38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E0C1"/>
                </a:solidFill>
              </a:defRPr>
            </a:pPr>
            <a:r>
              <a:rPr sz="975" b="1">
                <a:solidFill>
                  <a:srgbClr val="1FE0C1"/>
                </a:solidFill>
              </a:rPr>
              <a:t>08 / EXECUÇÃO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95E02-9605-460C-862A-8CFBA9C7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23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77A"/>
                </a:solidFill>
              </a:defRPr>
            </a:pPr>
            <a:r>
              <a:rPr sz="1050" b="1">
                <a:solidFill>
                  <a:srgbClr val="66777A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75821-91B1-42F2-9404-CF4E18ED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83189-2EE8-412F-AD7B-BEC60F6E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77A"/>
                </a:solidFill>
              </a:defRPr>
            </a:pPr>
            <a:r>
              <a:rPr sz="825" b="1">
                <a:solidFill>
                  <a:srgbClr val="66777A"/>
                </a:solidFill>
              </a:rPr>
              <a:t>SEBRAE STARTUPS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006F53-D566-43E2-BAE6-88D902AC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E0C1"/>
                </a:solidFill>
              </a:defRPr>
            </a:pPr>
            <a:r>
              <a:rPr sz="1050" b="1">
                <a:solidFill>
                  <a:srgbClr val="1FE0C1"/>
                </a:solidFill>
              </a:rPr>
              <a:t>TIME FUNDADOR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D7740-F8AC-4937-BBDB-CCFA053A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33475"/>
            <a:ext cx="10572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7"/>
                </a:solidFill>
              </a:defRPr>
            </a:pPr>
            <a:r>
              <a:rPr sz="3150" b="1">
                <a:solidFill>
                  <a:srgbClr val="F4F7F7"/>
                </a:solidFill>
              </a:rPr>
              <a:t>Execução técnica próxima do problema.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3530E-1E11-42CA-AEAA-023F759A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0B0B2"/>
                </a:solidFill>
              </a:defRPr>
            </a:pPr>
            <a:r>
              <a:rPr sz="1500" b="0">
                <a:solidFill>
                  <a:srgbClr val="A0B0B2"/>
                </a:solidFill>
              </a:rPr>
              <a:t>A Kôma está em uma fase founder-led: produto e aprendizado de mercado acontecem no mesmo ciclo.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0B6B3-B100-44C0-9127-758E3195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FE0C1"/>
                </a:solidFill>
              </a:defRPr>
            </a:pPr>
            <a:r>
              <a:rPr sz="3300" b="1">
                <a:solidFill>
                  <a:srgbClr val="1FE0C1"/>
                </a:solidFill>
              </a:rPr>
              <a:t>GEORLAN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55F6E-8131-4CAC-8C46-EAC9D4EA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7"/>
                </a:solidFill>
              </a:defRPr>
            </a:pPr>
            <a:r>
              <a:rPr sz="1725" b="1">
                <a:solidFill>
                  <a:srgbClr val="F4F7F7"/>
                </a:solidFill>
              </a:rPr>
              <a:t>Fundador · Produto e desenvolvimento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4CE9AB-8310-4623-8E4A-B3A1F70C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0B0B2"/>
                </a:solidFill>
              </a:defRPr>
            </a:pPr>
            <a:r>
              <a:rPr sz="1575" b="0">
                <a:solidFill>
                  <a:srgbClr val="A0B0B2"/>
                </a:solidFill>
              </a:rPr>
              <a:t>Mecatrônica Industrial</a:t>
            </a:r>
          </a:p>
          <a:p xmlns:a="http://schemas.openxmlformats.org/drawingml/2006/main">
            <a:pPr algn="l">
              <a:defRPr sz="1575" b="0">
                <a:solidFill>
                  <a:srgbClr val="A0B0B2"/>
                </a:solidFill>
              </a:defRPr>
            </a:pPr>
            <a:r>
              <a:rPr sz="1575" b="0">
                <a:solidFill>
                  <a:srgbClr val="A0B0B2"/>
                </a:solidFill>
              </a:rPr>
              <a:t>Software, automação e integrações</a:t>
            </a:r>
          </a:p>
          <a:p xmlns:a="http://schemas.openxmlformats.org/drawingml/2006/main">
            <a:pPr algn="l">
              <a:defRPr sz="1575" b="0">
                <a:solidFill>
                  <a:srgbClr val="A0B0B2"/>
                </a:solidFill>
              </a:defRPr>
            </a:pPr>
            <a:r>
              <a:rPr sz="1575" b="0">
                <a:solidFill>
                  <a:srgbClr val="A0B0B2"/>
                </a:solidFill>
              </a:rPr>
              <a:t>Construção direta do MVP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D87E0-0630-4A48-9E91-0073D5942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2895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1773BB-1CC3-4D5C-A740-9FA3D364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E0C1"/>
                </a:solidFill>
              </a:defRPr>
            </a:pPr>
            <a:r>
              <a:rPr sz="1125" b="1">
                <a:solidFill>
                  <a:srgbClr val="1FE0C1"/>
                </a:solidFill>
              </a:rPr>
              <a:t>O QUE O PROGRAMA ACELERA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A0976-F24C-4263-8D73-C861AA18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623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7F7"/>
                </a:solidFill>
              </a:defRPr>
            </a:pPr>
            <a:r>
              <a:rPr sz="1950" b="1">
                <a:solidFill>
                  <a:srgbClr val="F4F7F7"/>
                </a:solidFill>
              </a:rPr>
              <a:t>Validação comercial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D16567-D7A2-4E26-BE46-64157DB7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529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7F7"/>
                </a:solidFill>
              </a:defRPr>
            </a:pPr>
            <a:r>
              <a:rPr sz="1950" b="1">
                <a:solidFill>
                  <a:srgbClr val="F4F7F7"/>
                </a:solidFill>
              </a:rPr>
              <a:t>Precificação e modelo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AC116-28A9-48BE-8632-A9922AFB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434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7F7"/>
                </a:solidFill>
              </a:defRPr>
            </a:pPr>
            <a:r>
              <a:rPr sz="1950" b="1">
                <a:solidFill>
                  <a:srgbClr val="F4F7F7"/>
                </a:solidFill>
              </a:rPr>
              <a:t>Vendas e implantação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AED77E-50FD-4E1B-A6B9-269064AA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340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7F7"/>
                </a:solidFill>
              </a:defRPr>
            </a:pPr>
            <a:r>
              <a:rPr sz="1950" b="1">
                <a:solidFill>
                  <a:srgbClr val="F4F7F7"/>
                </a:solidFill>
              </a:rPr>
              <a:t>Rede de restaurantes-piloto</a:t>
            </a:r>
          </a:p>
        </p:txBody>
      </p:sp>
    </p:spTree>
    <p:extLst>
      <p:ext uri="{BB962C8B-B14F-4D97-AF65-F5344CB8AC3E}">
        <p14:creationId xmlns:p14="http://schemas.microsoft.com/office/powerpoint/2010/main" val="8722709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D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336E4-27C5-45F5-B230-A4B3A286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E0C1"/>
                </a:solidFill>
              </a:defRPr>
            </a:pPr>
            <a:r>
              <a:rPr sz="1050" b="1">
                <a:solidFill>
                  <a:srgbClr val="1FE0C1"/>
                </a:solidFill>
              </a:rPr>
              <a:t>KÔMA / PRÓXIMA ETAPA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6CC7A-EB90-43A3-B699-2099BC773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85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7F7"/>
                </a:solidFill>
              </a:defRPr>
            </a:pPr>
            <a:r>
              <a:rPr sz="3750" b="1">
                <a:solidFill>
                  <a:srgbClr val="F4F7F7"/>
                </a:solidFill>
              </a:rPr>
              <a:t>Com o Sebrae, a próxima prova</a:t>
            </a:r>
          </a:p>
          <a:p xmlns:a="http://schemas.openxmlformats.org/drawingml/2006/main">
            <a:pPr algn="l">
              <a:defRPr sz="3750" b="1">
                <a:solidFill>
                  <a:srgbClr val="F4F7F7"/>
                </a:solidFill>
              </a:defRPr>
            </a:pPr>
            <a:r>
              <a:rPr sz="3750" b="1">
                <a:solidFill>
                  <a:srgbClr val="F4F7F7"/>
                </a:solidFill>
              </a:rPr>
              <a:t>acontece no restaurante.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8EABB-D667-4EC9-9F9B-6478B401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800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0B0B2"/>
                </a:solidFill>
              </a:defRPr>
            </a:pPr>
            <a:r>
              <a:rPr sz="1725" b="0">
                <a:solidFill>
                  <a:srgbClr val="A0B0B2"/>
                </a:solidFill>
              </a:rPr>
              <a:t>Buscamos mentoria, acesso a operações-piloto e estruturação comercial para transformar o MVP em um negócio repetível.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20366-C426-433C-8DF6-04917463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87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FE0C1"/>
                </a:solidFill>
              </a:defRPr>
            </a:pPr>
            <a:r>
              <a:rPr sz="3900" b="1">
                <a:solidFill>
                  <a:srgbClr val="1FE0C1"/>
                </a:solidFill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A5AA7-623B-4446-BB4E-607916BF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7"/>
                </a:solidFill>
              </a:defRPr>
            </a:pPr>
            <a:r>
              <a:rPr sz="1425" b="1">
                <a:solidFill>
                  <a:srgbClr val="F4F7F7"/>
                </a:solidFill>
              </a:rPr>
              <a:t>operações-piloto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7EDCE-1009-422E-80BB-468B9246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43375"/>
            <a:ext cx="87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FE0C1"/>
                </a:solidFill>
              </a:defRPr>
            </a:pPr>
            <a:r>
              <a:rPr sz="3900" b="1">
                <a:solidFill>
                  <a:srgbClr val="1FE0C1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6BDE3-FA58-49F4-974C-A8ED72E4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1012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7"/>
                </a:solidFill>
              </a:defRPr>
            </a:pPr>
            <a:r>
              <a:rPr sz="1425" b="1">
                <a:solidFill>
                  <a:srgbClr val="F4F7F7"/>
                </a:solidFill>
              </a:rPr>
              <a:t>processo de onboarding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4A2F3-B774-4C5A-85F9-6B0BDA73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43375"/>
            <a:ext cx="87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FE0C1"/>
                </a:solidFill>
              </a:defRPr>
            </a:pPr>
            <a:r>
              <a:rPr sz="3900" b="1">
                <a:solidFill>
                  <a:srgbClr val="1FE0C1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F7E3B-2565-48EE-BA77-6FF69789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1012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7F7"/>
                </a:solidFill>
              </a:defRPr>
            </a:pPr>
            <a:r>
              <a:rPr sz="1425" b="1">
                <a:solidFill>
                  <a:srgbClr val="F4F7F7"/>
                </a:solidFill>
              </a:rPr>
              <a:t>modelo de preço validado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706308-3356-45BB-948B-AD3DDE02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14750"/>
            <a:ext cx="2000250" cy="21907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B191C"/>
          </a:solidFill>
          <a:ln xmlns:a="http://schemas.openxmlformats.org/drawingml/2006/main" w="9525">
            <a:solidFill>
              <a:srgbClr val="173033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06195832f40f7"/>
          <a:stretch xmlns:a="http://schemas.openxmlformats.org/drawingml/2006/main"/>
        </p:blipFill>
        <p:spPr>
          <a:xfrm xmlns:a="http://schemas.openxmlformats.org/drawingml/2006/main">
            <a:off x="9665987" y="3971925"/>
            <a:ext cx="1242026" cy="1524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3E6CBB-DDF7-4FCB-B481-081C0279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1D89A"/>
                </a:solidFill>
              </a:defRPr>
            </a:pPr>
            <a:r>
              <a:rPr sz="1050" b="1">
                <a:solidFill>
                  <a:srgbClr val="F1D89A"/>
                </a:solidFill>
              </a:rPr>
              <a:t>ODS 8 · ODS 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A045D-145D-4C4B-BEA9-D9A7AE86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27784-08B6-4BBD-AC1F-8F2A50D0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7F7"/>
                </a:solidFill>
              </a:defRPr>
            </a:pPr>
            <a:r>
              <a:rPr sz="1050" b="1">
                <a:solidFill>
                  <a:srgbClr val="F4F7F7"/>
                </a:solidFill>
              </a:rPr>
              <a:t>Menos sistemas separados. Mais operação conectada.</a:t>
            </a:r>
          </a:p>
        </p:txBody>
      </p:sp>
    </p:spTree>
    <p:extLst>
      <p:ext uri="{BB962C8B-B14F-4D97-AF65-F5344CB8AC3E}">
        <p14:creationId xmlns:p14="http://schemas.microsoft.com/office/powerpoint/2010/main" val="4855762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2026-08-08T20:04:32.1360000Z</dcterms:created>
  <dcterms:modified xsi:type="dcterms:W3CDTF">2026-08-08T20:04:32.1370000Z</dcterms:modified>
</coreProperties>
</file>